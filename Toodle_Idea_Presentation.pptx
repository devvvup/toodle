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91440" cy="384048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odle-log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651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D3"/>
                </a:solidFill>
                <a:latin typeface="Arial"/>
              </a:defRPr>
            </a:pPr>
            <a:r>
              <a:t>SMART URBAN INFRASTRUCTURE  ·  AWS SERVERLESS  ·  REAL-TIME IOT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Segoe UI"/>
              </a:defRPr>
            </a:pPr>
            <a:r>
              <a:t>TOODLE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069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99FF"/>
                </a:solidFill>
                <a:latin typeface="Segoe UI"/>
              </a:defRPr>
            </a:pPr>
            <a:r>
              <a:t>Predict floods before the street submerges.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5AF"/>
                </a:solidFill>
                <a:latin typeface="Segoe UI"/>
              </a:defRPr>
            </a:pPr>
            <a:r>
              <a:t>A Hyperlocal Urban Flood Intelligence &amp; Automated Emergency Dispatch Platform</a:t>
            </a:r>
            <a:br/>
            <a:r>
              <a:t>Combining Sub-surface Acoustics, Computer Vision, and Dual-Model Hydrological Lag.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E78"/>
                </a:solidFill>
                <a:latin typeface="Arial"/>
              </a:defRPr>
            </a:pPr>
            <a:r>
              <a:t>Created by Rudraksh Sharma  |  Production Deployment on AWS Amplify &amp; EAS Android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D3"/>
                </a:solidFill>
                <a:latin typeface="Arial"/>
              </a:defRPr>
            </a:pPr>
            <a:r>
              <a:t>THE URBAN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Fatal Anatomy of Flash Flooding in Modern Megacities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0A5AF"/>
                </a:solidFill>
                <a:latin typeface="Segoe UI"/>
              </a:defRPr>
            </a:pPr>
            <a:r>
              <a:t>Why traditional meteorological alerts fail to prevent catastrophic street submersion.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28416" cy="4389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F4444"/>
                </a:solidFill>
                <a:latin typeface="Segoe UI"/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900" b="1">
                <a:solidFill>
                  <a:srgbClr val="EF4444"/>
                </a:solidFill>
                <a:latin typeface="Arial"/>
              </a:defRPr>
            </a:pPr>
            <a:r>
              <a:t>PRE-STORM DRAIN CHOKE</a:t>
            </a:r>
          </a:p>
          <a:p>
            <a:pPr>
              <a:spcBef>
                <a:spcPts val="12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Acoustic &amp; Sub-surface Invisibility</a:t>
            </a:r>
          </a:p>
          <a:p>
            <a:pPr>
              <a:spcBef>
                <a:spcPts val="1200"/>
              </a:spcBef>
              <a:defRPr sz="1200">
                <a:solidFill>
                  <a:srgbClr val="A0A5AF"/>
                </a:solidFill>
                <a:latin typeface="Segoe UI"/>
              </a:defRPr>
            </a:pPr>
            <a:r>
              <a:t>Over 78% of urban flash floods are triggered by solid waste, construction debris, and silt obstructing underground drainage pipes days prior to rain.</a:t>
            </a:r>
            <a:br/>
            <a:br/>
            <a:r>
              <a:t>Traditional systems rely on surface water level sensors that only register when water is already 20 cm deep—far too late for municipal intervention.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91640"/>
            <a:ext cx="3328416" cy="4389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AB308"/>
                </a:solidFill>
                <a:latin typeface="Segoe UI"/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900" b="1">
                <a:solidFill>
                  <a:srgbClr val="EAB308"/>
                </a:solidFill>
                <a:latin typeface="Arial"/>
              </a:defRPr>
            </a:pPr>
            <a:r>
              <a:t>POST-RAIN FLOODING</a:t>
            </a:r>
          </a:p>
          <a:p>
            <a:pPr>
              <a:spcBef>
                <a:spcPts val="12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The Hydrological Memory Blindspot</a:t>
            </a:r>
          </a:p>
          <a:p>
            <a:pPr>
              <a:spcBef>
                <a:spcPts val="1200"/>
              </a:spcBef>
              <a:defRPr sz="1200">
                <a:solidFill>
                  <a:srgbClr val="A0A5AF"/>
                </a:solidFill>
                <a:latin typeface="Segoe UI"/>
              </a:defRPr>
            </a:pPr>
            <a:r>
              <a:t>When a 2 AM cloudburst stops, standard forecast APIs report 'Clear weather, 0 mm/h rain'.</a:t>
            </a:r>
            <a:br/>
            <a:br/>
            <a:r>
              <a:t>However, water runoff continues pooling for 3–6 hours in underpasses and bowl-shaped intersections. Conventional models reset risk to zero while roads remain 3 feet underwater.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91640"/>
            <a:ext cx="3328416" cy="4389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2D3"/>
                </a:solidFill>
                <a:latin typeface="Segoe UI"/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900" b="1">
                <a:solidFill>
                  <a:srgbClr val="00D2D3"/>
                </a:solidFill>
                <a:latin typeface="Arial"/>
              </a:defRPr>
            </a:pPr>
            <a:r>
              <a:t>OPERATIONAL BOTTLENECK</a:t>
            </a:r>
          </a:p>
          <a:p>
            <a:pPr>
              <a:spcBef>
                <a:spcPts val="12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Critical Dispatch Latency Lag</a:t>
            </a:r>
          </a:p>
          <a:p>
            <a:pPr>
              <a:spcBef>
                <a:spcPts val="1200"/>
              </a:spcBef>
              <a:defRPr sz="1200">
                <a:solidFill>
                  <a:srgbClr val="A0A5AF"/>
                </a:solidFill>
                <a:latin typeface="Segoe UI"/>
              </a:defRPr>
            </a:pPr>
            <a:r>
              <a:t>Municipal emergency response relies on citizen distress calls and manual radio triage.</a:t>
            </a:r>
            <a:br/>
            <a:br/>
            <a:r>
              <a:t>Average response latency: 45–90 minutes. Critical underpasses (e.g. Minto Bridge, Pul Prahladpur) submerge in under 12 minutes, trapping motorists and paralyzing city transit.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D3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Introducing Toodle: Unified Tri-Vector Flood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0A5AF"/>
                </a:solidFill>
                <a:latin typeface="Segoe UI"/>
              </a:defRPr>
            </a:pPr>
            <a:r>
              <a:t>An integrated real-time edge-to-cloud platform that predicts, visualizes, and dispatches before disaster strikes.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66360" cy="2103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20"/>
            <a:ext cx="4617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D3"/>
                </a:solidFill>
                <a:latin typeface="Arial"/>
              </a:defRPr>
            </a:pPr>
            <a:r>
              <a:t>INTELLIGENCE ENGINE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Mathematical Flood Risk Index (FRI)</a:t>
            </a:r>
          </a:p>
          <a:p>
            <a:pPr>
              <a:spcBef>
                <a:spcPts val="800"/>
              </a:spcBef>
              <a:defRPr sz="1150">
                <a:solidFill>
                  <a:srgbClr val="A0A5AF"/>
                </a:solidFill>
                <a:latin typeface="Segoe UI"/>
              </a:defRPr>
            </a:pPr>
            <a:r>
              <a:t>Real-time weighted synthesis of Surface Pooling (55%), Acoustic Drain Impedance (35%), and Hydrological Lag-Adjusted Rain (10%) calibrated across 4 operational safety tiers.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91640"/>
            <a:ext cx="5166360" cy="2103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874520"/>
            <a:ext cx="4617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99FF"/>
                </a:solidFill>
                <a:latin typeface="Arial"/>
              </a:defRPr>
            </a:pPr>
            <a:r>
              <a:t>HYDROLOGICAL MEMORY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Dual-Model Weather Ensemble</a:t>
            </a:r>
          </a:p>
          <a:p>
            <a:pPr>
              <a:spcBef>
                <a:spcPts val="800"/>
              </a:spcBef>
              <a:defRPr sz="1150">
                <a:solidFill>
                  <a:srgbClr val="A0A5AF"/>
                </a:solidFill>
                <a:latin typeface="Segoe UI"/>
              </a:defRPr>
            </a:pPr>
            <a:r>
              <a:t>24-hour historical precipitation lookback combining ECMWF Best-Match with NOAA GFS Seamless in parallel. Employs hydrological decay memory so standing water is never forgotten.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66360" cy="2103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617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  <a:latin typeface="Arial"/>
              </a:defRPr>
            </a:pPr>
            <a:r>
              <a:t>COMPUTER VISION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Amazon Rekognition Field Capture</a:t>
            </a:r>
          </a:p>
          <a:p>
            <a:pPr>
              <a:spcBef>
                <a:spcPts val="800"/>
              </a:spcBef>
              <a:defRPr sz="1150">
                <a:solidFill>
                  <a:srgbClr val="A0A5AF"/>
                </a:solidFill>
                <a:latin typeface="Segoe UI"/>
              </a:defRPr>
            </a:pPr>
            <a:r>
              <a:t>Citizen &amp; municipal field inspection scanning real-world clogged drains, garbage piles, and culverts with GPS geotag verification and automated visual blockage detection.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4023360"/>
            <a:ext cx="5166360" cy="2103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4206240"/>
            <a:ext cx="4617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F4444"/>
                </a:solidFill>
                <a:latin typeface="Arial"/>
              </a:defRPr>
            </a:pPr>
            <a:r>
              <a:t>EMERGENCY DISPATCH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Sub-2.5s Automated SNS Dispatch</a:t>
            </a:r>
          </a:p>
          <a:p>
            <a:pPr>
              <a:spcBef>
                <a:spcPts val="800"/>
              </a:spcBef>
              <a:defRPr sz="1150">
                <a:solidFill>
                  <a:srgbClr val="A0A5AF"/>
                </a:solidFill>
                <a:latin typeface="Segoe UI"/>
              </a:defRPr>
            </a:pPr>
            <a:r>
              <a:t>Zero-human-delay emergency dispatch pipeline via Amazon SNS and DynamoDB. Sends targeted SMS warnings and coordinates field rescue units before water depths cross critical thresholds.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D3"/>
                </a:solidFill>
                <a:latin typeface="Arial"/>
              </a:defRPr>
            </a:pPr>
            <a:r>
              <a:t>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Flood Risk Index (FRI) Mathematical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0A5AF"/>
                </a:solidFill>
                <a:latin typeface="Segoe UI"/>
              </a:defRPr>
            </a:pPr>
            <a:r>
              <a:t>A continuous scalar (0.00 – 1.00) quantifying immediate inundation hazard.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5912" cy="137160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00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772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D3"/>
                </a:solidFill>
                <a:latin typeface="Arial"/>
              </a:defRPr>
            </a:pPr>
            <a:r>
              <a:t>THE GOVERNING HYDRAULIC EQUATION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  <a:latin typeface="Consolas"/>
              </a:defRPr>
            </a:pPr>
            <a:r>
              <a:t>FRI  =  0.55 · V_pooling  +  0.35 · A_impedance  +  0.10 · R_rate</a:t>
            </a:r>
          </a:p>
          <a:p>
            <a:pPr>
              <a:spcBef>
                <a:spcPts val="400"/>
              </a:spcBef>
              <a:defRPr sz="1100">
                <a:solidFill>
                  <a:srgbClr val="A0A5AF"/>
                </a:solidFill>
                <a:latin typeface="Segoe UI"/>
              </a:defRPr>
            </a:pPr>
            <a:r>
              <a:t>Where V = Visual pooling severity (CV), A = Acoustic drain obstruction index (IoT), and R = Hydrological lag-adjusted effective rainfall 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2542032" cy="292608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1762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Consolas"/>
              </a:defRPr>
            </a:pPr>
            <a:r>
              <a:t>0.00 — 0.35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SAFE LEVEL</a:t>
            </a:r>
          </a:p>
          <a:p>
            <a:pPr>
              <a:spcBef>
                <a:spcPts val="800"/>
              </a:spcBef>
              <a:defRPr sz="1100">
                <a:solidFill>
                  <a:srgbClr val="A0A5AF"/>
                </a:solidFill>
                <a:latin typeface="Segoe UI"/>
              </a:defRPr>
            </a:pPr>
            <a:r>
              <a:t>Surface runoff flows smoothly through drainage conduits.</a:t>
            </a:r>
            <a:br/>
            <a:br/>
            <a:r>
              <a:t>• Action: Passive telemetric logging</a:t>
            </a:r>
            <a:br/>
            <a:r>
              <a:t>• Color Code: Neon Green #22C55E</a:t>
            </a:r>
            <a:br/>
            <a:r>
              <a:t>• Dispatch: Disarmed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3291840"/>
            <a:ext cx="2542032" cy="292608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3474720"/>
            <a:ext cx="21762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Consolas"/>
              </a:defRPr>
            </a:pPr>
            <a:r>
              <a:t>0.36 — 0.65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MODERATE RISK</a:t>
            </a:r>
          </a:p>
          <a:p>
            <a:pPr>
              <a:spcBef>
                <a:spcPts val="800"/>
              </a:spcBef>
              <a:defRPr sz="1100">
                <a:solidFill>
                  <a:srgbClr val="A0A5AF"/>
                </a:solidFill>
                <a:latin typeface="Segoe UI"/>
              </a:defRPr>
            </a:pPr>
            <a:r>
              <a:t>Surface pooling initiated; localized curb accumulation.</a:t>
            </a:r>
            <a:br/>
            <a:br/>
            <a:r>
              <a:t>• Action: Municipal advisory monitoring</a:t>
            </a:r>
            <a:br/>
            <a:r>
              <a:t>• Color Code: Electric Blue #3B82F6</a:t>
            </a:r>
            <a:br/>
            <a:r>
              <a:t>• Dispatch: Pre-armed queue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3291840"/>
            <a:ext cx="2542032" cy="292608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3474720"/>
            <a:ext cx="21762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AB308"/>
                </a:solidFill>
                <a:latin typeface="Consolas"/>
              </a:defRPr>
            </a:pPr>
            <a:r>
              <a:t>0.66 — 0.85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DRAIN CHOKE</a:t>
            </a:r>
          </a:p>
          <a:p>
            <a:pPr>
              <a:spcBef>
                <a:spcPts val="800"/>
              </a:spcBef>
              <a:defRPr sz="1100">
                <a:solidFill>
                  <a:srgbClr val="A0A5AF"/>
                </a:solidFill>
                <a:latin typeface="Segoe UI"/>
              </a:defRPr>
            </a:pPr>
            <a:r>
              <a:t>Drainage capacity saturated or structurally choked.</a:t>
            </a:r>
            <a:br/>
            <a:br/>
            <a:r>
              <a:t>• Action: Preemptive suction truck dispatch</a:t>
            </a:r>
            <a:br/>
            <a:r>
              <a:t>• Color Code: Warning Amber #EAB308</a:t>
            </a:r>
            <a:br/>
            <a:r>
              <a:t>• Alert: Maintenance priority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3291840"/>
            <a:ext cx="2542032" cy="292608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9136" y="3474720"/>
            <a:ext cx="21762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Consolas"/>
              </a:defRPr>
            </a:pPr>
            <a:r>
              <a:t>0.86 — 1.00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CRITICAL HAZARD</a:t>
            </a:r>
          </a:p>
          <a:p>
            <a:pPr>
              <a:spcBef>
                <a:spcPts val="800"/>
              </a:spcBef>
              <a:defRPr sz="1100">
                <a:solidFill>
                  <a:srgbClr val="A0A5AF"/>
                </a:solidFill>
                <a:latin typeface="Segoe UI"/>
              </a:defRPr>
            </a:pPr>
            <a:r>
              <a:t>Immediate road submersion &amp; vehicle flotation risk.</a:t>
            </a:r>
            <a:br/>
            <a:br/>
            <a:r>
              <a:t>• Action: Immediate SNS Emergency Dispatch</a:t>
            </a:r>
            <a:br/>
            <a:r>
              <a:t>• Color Code: Coral Red #EF4444</a:t>
            </a:r>
            <a:br/>
            <a:r>
              <a:t>• Protocol: Siren + Traffic Diversion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D3"/>
                </a:solidFill>
                <a:latin typeface="Arial"/>
              </a:defRPr>
            </a:pPr>
            <a:r>
              <a:t>HYDROLOGICAL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24-Hour Precipitation Memory &amp; Dual-Model Weather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0A5AF"/>
                </a:solidFill>
                <a:latin typeface="Segoe UI"/>
              </a:defRPr>
            </a:pPr>
            <a:r>
              <a:t>Capturing localized cloudbursts and standing water that traditional weather APIs completely miss.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66360" cy="4389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617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D3"/>
                </a:solidFill>
                <a:latin typeface="Arial"/>
              </a:defRPr>
            </a:pPr>
            <a:r>
              <a:t>THE MULTI-HOUR LOOKBACK ENGINE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Why Instantaneous Rain Rates Fail</a:t>
            </a:r>
          </a:p>
          <a:p>
            <a:pPr>
              <a:spcBef>
                <a:spcPts val="1000"/>
              </a:spcBef>
              <a:defRPr sz="1150">
                <a:solidFill>
                  <a:srgbClr val="A0A5AF"/>
                </a:solidFill>
                <a:latin typeface="Segoe UI"/>
              </a:defRPr>
            </a:pPr>
            <a:r>
              <a:t>In monsoonal Delhi NCR, intense downpours (e.g. 60 mm in 45 min) happen in short micro-bursts. If a model only checks current hourly rain, risk plummets to zero 10 minutes after rain stops—even though an underpass has 4 feet of standing water.</a:t>
            </a:r>
            <a:br/>
            <a:br/>
            <a:r>
              <a:t>Toodle retrieves past_hours=24 and forecast_hours=6, computing:</a:t>
            </a:r>
            <a:br/>
            <a:r>
              <a:t>• Last 1-hour, 3-hour, 6-hour, and 24-hour cumulative totals</a:t>
            </a:r>
            <a:br/>
            <a:r>
              <a:t>• Peak hourly rainfall rate in the preceding 6 hours</a:t>
            </a:r>
            <a:br/>
            <a:r>
              <a:t>• Projected 6-hour forward precipitation curve and probability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91640"/>
            <a:ext cx="5166360" cy="4389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920240"/>
            <a:ext cx="4617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9FF"/>
                </a:solidFill>
                <a:latin typeface="Arial"/>
              </a:defRPr>
            </a:pPr>
            <a:r>
              <a:t>DUAL-MODEL ENSEMBLE + EFFECTIVE RAIN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Hydrological Lag Equation</a:t>
            </a:r>
          </a:p>
          <a:p>
            <a:pPr>
              <a:spcBef>
                <a:spcPts val="1000"/>
              </a:spcBef>
              <a:defRPr sz="1400" b="1">
                <a:solidFill>
                  <a:srgbClr val="00D2D3"/>
                </a:solidFill>
                <a:latin typeface="Consolas"/>
              </a:defRPr>
            </a:pPr>
            <a:r>
              <a:t>R_effective  =  max( R_current,  Peak_3h,  Total_24h / 6 )</a:t>
            </a:r>
          </a:p>
          <a:p>
            <a:pPr>
              <a:spcBef>
                <a:spcPts val="1000"/>
              </a:spcBef>
              <a:defRPr sz="1150">
                <a:solidFill>
                  <a:srgbClr val="A0A5AF"/>
                </a:solidFill>
                <a:latin typeface="Segoe UI"/>
              </a:defRPr>
            </a:pPr>
            <a:r>
              <a:t>Best-Match + NOAA GFS Seamless Parallel Fusion:</a:t>
            </a:r>
            <a:br/>
            <a:r>
              <a:t>• Micro-burst divergence: In testing, standard models recorded 1.4 mm while NOAA GFS recorded 4.1 mm for the same Delhi coordinate.</a:t>
            </a:r>
            <a:br/>
            <a:r>
              <a:t>• Toodle queries both in parallel and merges using conservative maximums across all rolling metrics.</a:t>
            </a:r>
            <a:br/>
            <a:r>
              <a:t>• Verified Label: 'Open-Meteo (best match + GFS)'</a:t>
            </a:r>
            <a:br/>
            <a:r>
              <a:t>• Dynamic UI: 'Clear now, rain in the last 24h: 38.4 mm'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D3"/>
                </a:solidFill>
                <a:latin typeface="Arial"/>
              </a:defRPr>
            </a:pPr>
            <a:r>
              <a:t>PERCEPTION &amp; EDGE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Amazon Rekognition Computer Vision &amp; Drain Blockage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0A5AF"/>
                </a:solidFill>
                <a:latin typeface="Segoe UI"/>
              </a:defRPr>
            </a:pPr>
            <a:r>
              <a:t>Real-world scene validation that accepts municipal storm conditions while rejecting false-positive images.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486400" cy="4389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D3"/>
                </a:solidFill>
                <a:latin typeface="Arial"/>
              </a:defRPr>
            </a:pPr>
            <a:r>
              <a:t>SMART MUNICIPAL ROAD VALIDATION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Why Standard Classifiers Fail in the Field</a:t>
            </a:r>
          </a:p>
          <a:p>
            <a:pPr>
              <a:spcBef>
                <a:spcPts val="800"/>
              </a:spcBef>
              <a:defRPr sz="1150">
                <a:solidFill>
                  <a:srgbClr val="A0A5AF"/>
                </a:solidFill>
                <a:latin typeface="Segoe UI"/>
              </a:defRPr>
            </a:pPr>
            <a:r>
              <a:t>Standard image APIs reject unpaved roads, construction sites, and choked gullies as 'Not a Road'. Toodle implements custom municipal verification:</a:t>
            </a:r>
            <a:br/>
            <a:br/>
            <a:r>
              <a:t>✓ Accepted Real-World Features: Drains, culverts, trenches, trash piles, silt, rubble, muddy puddles, wet asphalt, curb drains.</a:t>
            </a:r>
            <a:br/>
            <a:r>
              <a:t>✗ Strict Non-Outdoor Rejection: Living rooms, computer monitors, paperwork, furniture, vehicles parked indoors.</a:t>
            </a:r>
            <a:br/>
            <a:br/>
            <a:r>
              <a:t>Visual Blockage Detection Engine:</a:t>
            </a:r>
            <a:br/>
            <a:r>
              <a:t>• Scans for debris, garbage, plastic choke, and sediment obstruction.</a:t>
            </a:r>
            <a:br/>
            <a:r>
              <a:t>• Computes blockageDetected (Boolean) &amp; blockageConfidence (%).</a:t>
            </a:r>
            <a:br/>
            <a:r>
              <a:t>• Top 12 Rekognition labels displayed with individual confidence chips.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91640"/>
            <a:ext cx="4965192" cy="4389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mo_1440x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4782312" cy="29889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0" y="5623560"/>
            <a:ext cx="4782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0A5AF"/>
                </a:solidFill>
              </a:defRPr>
            </a:pPr>
            <a:r>
              <a:t>Live Field Capture Viewfinder: Dual-pill status &amp; GPS geotag verification.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D3"/>
                </a:solidFill>
                <a:latin typeface="Arial"/>
              </a:defRPr>
            </a:pPr>
            <a:r>
              <a:t>HARDWARE &amp;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Sub-Surface Acoustic Drain Resonance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0A5AF"/>
                </a:solidFill>
                <a:latin typeface="Segoe UI"/>
              </a:defRPr>
            </a:pPr>
            <a:r>
              <a:t>Using sound wave reverberation to 'hear' underground blockages days before rainfall begins.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28416" cy="4389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D3"/>
                </a:solidFill>
                <a:latin typeface="Arial"/>
              </a:defRPr>
            </a:pPr>
            <a:r>
              <a:t>TRANSDUCER MECHANISM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Acoustic Sweep Frequency Chirp</a:t>
            </a:r>
          </a:p>
          <a:p>
            <a:pPr>
              <a:spcBef>
                <a:spcPts val="1000"/>
              </a:spcBef>
              <a:defRPr sz="1200">
                <a:solidFill>
                  <a:srgbClr val="A0A5AF"/>
                </a:solidFill>
                <a:latin typeface="Segoe UI"/>
              </a:defRPr>
            </a:pPr>
            <a:r>
              <a:t>A ruggedized, waterproof IP68 piezo-transceiver installed beneath manhole grates emits periodic acoustic sweeps (20 Hz – 2 kHz) through storm water culverts.</a:t>
            </a:r>
            <a:br/>
            <a:br/>
            <a:r>
              <a:t>Sound waves reflect along the pipe interior. Clean drains exhibit clear, predictable resonant decay waveforms.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91640"/>
            <a:ext cx="3328416" cy="4389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B308"/>
                </a:solidFill>
                <a:latin typeface="Arial"/>
              </a:defRPr>
            </a:pPr>
            <a:r>
              <a:t>OBSTRUCTION DETECTION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Acoustic Impedance (A_impedance)</a:t>
            </a:r>
          </a:p>
          <a:p>
            <a:pPr>
              <a:spcBef>
                <a:spcPts val="1000"/>
              </a:spcBef>
              <a:defRPr sz="1200">
                <a:solidFill>
                  <a:srgbClr val="A0A5AF"/>
                </a:solidFill>
                <a:latin typeface="Segoe UI"/>
              </a:defRPr>
            </a:pPr>
            <a:r>
              <a:t>When silt, plastic bags, or solid waste accumulate in the drain:</a:t>
            </a:r>
            <a:br/>
            <a:br/>
            <a:r>
              <a:t>• High-frequency harmonics are absorbed</a:t>
            </a:r>
            <a:br/>
            <a:r>
              <a:t>• Standing wave reverberation time drops by 60–85%</a:t>
            </a:r>
            <a:br/>
            <a:r>
              <a:t>• Acoustic Impedance metric spikes from 0.12 (clear) to 0.95 (choked)</a:t>
            </a:r>
            <a:br/>
            <a:br/>
            <a:r>
              <a:t>Enables proactive municipal de-silting before clouds even 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91640"/>
            <a:ext cx="3328416" cy="4389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C55E"/>
                </a:solidFill>
                <a:latin typeface="Arial"/>
              </a:defRPr>
            </a:pPr>
            <a:r>
              <a:t>EDGE EMBEDDED SYSTEM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Ultra-Low Power &amp; Telemetry</a:t>
            </a:r>
          </a:p>
          <a:p>
            <a:pPr>
              <a:spcBef>
                <a:spcPts val="1000"/>
              </a:spcBef>
              <a:defRPr sz="1200">
                <a:solidFill>
                  <a:srgbClr val="A0A5AF"/>
                </a:solidFill>
                <a:latin typeface="Segoe UI"/>
              </a:defRPr>
            </a:pPr>
            <a:r>
              <a:t>Runs on low-power ARM Cortex-M4 with solar harvesting / 5-year lithium thionyl chloride battery.</a:t>
            </a:r>
            <a:br/>
            <a:br/>
            <a:r>
              <a:t>Transmits lightweight telemetry packets via NB-IoT / LoRaWAN or 4G directly into the AWS DynamoDB ingestion pipeline at &lt;120 bytes per transmission.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D3"/>
                </a:solidFill>
                <a:latin typeface="Arial"/>
              </a:defRPr>
            </a:pPr>
            <a:r>
              <a:t>CLOUD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100% Serverless, Fault-Tolerant AWS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0A5AF"/>
                </a:solidFill>
                <a:latin typeface="Segoe UI"/>
              </a:defRPr>
            </a:pPr>
            <a:r>
              <a:t>Designed for scale-to-zero cost efficiency and resilient instant elasticity during extreme storms.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42032" cy="4389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7627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D3"/>
                </a:solidFill>
                <a:latin typeface="Arial"/>
              </a:defRPr>
            </a:pPr>
            <a:r>
              <a:t>CLIENT TIER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Multi-Platform Frontend</a:t>
            </a:r>
          </a:p>
          <a:p>
            <a:pPr>
              <a:spcBef>
                <a:spcPts val="400"/>
              </a:spcBef>
              <a:defRPr sz="950">
                <a:solidFill>
                  <a:srgbClr val="00D2D3"/>
                </a:solidFill>
                <a:latin typeface="Consolas"/>
              </a:defRPr>
            </a:pPr>
            <a:r>
              <a:t>Next.js 14 Web App + React Native Expo Android APK</a:t>
            </a:r>
          </a:p>
          <a:p>
            <a:pPr>
              <a:spcBef>
                <a:spcPts val="1000"/>
              </a:spcBef>
              <a:defRPr sz="1100">
                <a:solidFill>
                  <a:srgbClr val="A0A5AF"/>
                </a:solidFill>
                <a:latin typeface="Segoe UI"/>
              </a:defRPr>
            </a:pPr>
            <a:r>
              <a:t>• Dark mode Aceternity &amp; NativeWind UI</a:t>
            </a:r>
            <a:br/>
            <a:r>
              <a:t>• Responsive layout: 320px mobile to 4K</a:t>
            </a:r>
            <a:br/>
            <a:r>
              <a:t>• Live map with custom SVG markers</a:t>
            </a:r>
            <a:br/>
            <a:r>
              <a:t>• 60-min interactive telemetry graphs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91640"/>
            <a:ext cx="2542032" cy="4389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920240"/>
            <a:ext cx="217627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99FF"/>
                </a:solidFill>
                <a:latin typeface="Arial"/>
              </a:defRPr>
            </a:pPr>
            <a:r>
              <a:t>COMPUTE &amp; API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AWS Amplify Compute</a:t>
            </a:r>
          </a:p>
          <a:p>
            <a:pPr>
              <a:spcBef>
                <a:spcPts val="400"/>
              </a:spcBef>
              <a:defRPr sz="950">
                <a:solidFill>
                  <a:srgbClr val="0099FF"/>
                </a:solidFill>
                <a:latin typeface="Consolas"/>
              </a:defRPr>
            </a:pPr>
            <a:r>
              <a:t>Node.js 20 Serverless Lambda Functions (ap-south-1)</a:t>
            </a:r>
          </a:p>
          <a:p>
            <a:pPr>
              <a:spcBef>
                <a:spcPts val="1000"/>
              </a:spcBef>
              <a:defRPr sz="1100">
                <a:solidFill>
                  <a:srgbClr val="A0A5AF"/>
                </a:solidFill>
                <a:latin typeface="Segoe UI"/>
              </a:defRPr>
            </a:pPr>
            <a:r>
              <a:t>• Next.js App Router dynamic endpoints</a:t>
            </a:r>
            <a:br/>
            <a:r>
              <a:t>• Dual-model Open-Meteo &amp; GFS fetch</a:t>
            </a:r>
            <a:br/>
            <a:r>
              <a:t>• Rate-limiting &amp; optimistic concurrency</a:t>
            </a:r>
            <a:br/>
            <a:r>
              <a:t>• Backwards-compatible REST payload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91640"/>
            <a:ext cx="2542032" cy="4389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920240"/>
            <a:ext cx="217627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  <a:latin typeface="Arial"/>
              </a:defRPr>
            </a:pPr>
            <a:r>
              <a:t>AI &amp; TELEMETRY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Amazon Rekognition</a:t>
            </a:r>
          </a:p>
          <a:p>
            <a:pPr>
              <a:spcBef>
                <a:spcPts val="400"/>
              </a:spcBef>
              <a:defRPr sz="950">
                <a:solidFill>
                  <a:srgbClr val="22C55E"/>
                </a:solidFill>
                <a:latin typeface="Consolas"/>
              </a:defRPr>
            </a:pPr>
            <a:r>
              <a:t>Computer Vision &amp; Visual Blockage Engine</a:t>
            </a:r>
          </a:p>
          <a:p>
            <a:pPr>
              <a:spcBef>
                <a:spcPts val="1000"/>
              </a:spcBef>
              <a:defRPr sz="1100">
                <a:solidFill>
                  <a:srgbClr val="A0A5AF"/>
                </a:solidFill>
                <a:latin typeface="Segoe UI"/>
              </a:defRPr>
            </a:pPr>
            <a:r>
              <a:t>• Real-time DetectLabels processing</a:t>
            </a:r>
            <a:br/>
            <a:r>
              <a:t>• Municipal road &amp; drainage validation</a:t>
            </a:r>
            <a:br/>
            <a:r>
              <a:t>• Solid waste &amp; silt detection</a:t>
            </a:r>
            <a:br/>
            <a:r>
              <a:t>• Geotag timestamp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91640"/>
            <a:ext cx="2542032" cy="4389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920240"/>
            <a:ext cx="217627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F4444"/>
                </a:solidFill>
                <a:latin typeface="Arial"/>
              </a:defRPr>
            </a:pPr>
            <a:r>
              <a:t>STORAGE &amp; ALERT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DynamoDB &amp; SNS</a:t>
            </a:r>
          </a:p>
          <a:p>
            <a:pPr>
              <a:spcBef>
                <a:spcPts val="400"/>
              </a:spcBef>
              <a:defRPr sz="950">
                <a:solidFill>
                  <a:srgbClr val="EF4444"/>
                </a:solidFill>
                <a:latin typeface="Consolas"/>
              </a:defRPr>
            </a:pPr>
            <a:r>
              <a:t>FloodGuardState Table &amp; FloodGuardAlertTopic</a:t>
            </a:r>
          </a:p>
          <a:p>
            <a:pPr>
              <a:spcBef>
                <a:spcPts val="1000"/>
              </a:spcBef>
              <a:defRPr sz="1100">
                <a:solidFill>
                  <a:srgbClr val="A0A5AF"/>
                </a:solidFill>
                <a:latin typeface="Segoe UI"/>
              </a:defRPr>
            </a:pPr>
            <a:r>
              <a:t>• Millisecond read/write state sync</a:t>
            </a:r>
            <a:br/>
            <a:r>
              <a:t>• SMS alert dispatch in &lt;2.5 seconds</a:t>
            </a:r>
            <a:br/>
            <a:r>
              <a:t>• Cooldown deduplication (anti-spam)</a:t>
            </a:r>
            <a:br/>
            <a:r>
              <a:t>• High-durability disaster failover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D3"/>
                </a:solidFill>
                <a:latin typeface="Arial"/>
              </a:defRPr>
            </a:pPr>
            <a:r>
              <a:t>PRODUCT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Toodle Municipal Command Center &amp; Node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0A5AF"/>
                </a:solidFill>
                <a:latin typeface="Segoe UI"/>
              </a:defRPr>
            </a:pPr>
            <a:r>
              <a:t>Real-time situational awareness across 12 high-vulnerability Delhi NCR arterial nodes.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943600" cy="4389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mand-center_1440x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5760720" cy="36004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03720" y="1691640"/>
            <a:ext cx="4553712" cy="4389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ode_sheet_1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783080"/>
            <a:ext cx="4370832" cy="27317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D3"/>
                </a:solidFill>
                <a:latin typeface="Arial"/>
              </a:defRPr>
            </a:pPr>
            <a:r>
              <a:t>BENCHMARKS &amp;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High Performance, Fractional Cost: $0.003 / Node /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0A5AF"/>
                </a:solidFill>
                <a:latin typeface="Segoe UI"/>
              </a:defRPr>
            </a:pPr>
            <a:r>
              <a:t>Transforming urban resilience from a multi-million-dollar capex burden to an agile serverless utility.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42032" cy="173736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2D3"/>
                </a:solidFill>
                <a:latin typeface="Segoe UI"/>
              </a:defRPr>
            </a:pPr>
            <a:r>
              <a:t>&lt; 2.5s</a:t>
            </a:r>
          </a:p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END-TO-END LATENCY</a:t>
            </a:r>
          </a:p>
          <a:p>
            <a:pPr>
              <a:spcBef>
                <a:spcPts val="400"/>
              </a:spcBef>
              <a:defRPr sz="1000">
                <a:solidFill>
                  <a:srgbClr val="A0A5AF"/>
                </a:solidFill>
                <a:latin typeface="Segoe UI"/>
              </a:defRPr>
            </a:pPr>
            <a:r>
              <a:t>From sensor trip / Rekognition inference to SMS emergency dispatch.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91640"/>
            <a:ext cx="2542032" cy="173736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78308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C55E"/>
                </a:solidFill>
                <a:latin typeface="Segoe UI"/>
              </a:defRPr>
            </a:pPr>
            <a:r>
              <a:t>88.4%</a:t>
            </a:r>
          </a:p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PREDICTION ACCURACY</a:t>
            </a:r>
          </a:p>
          <a:p>
            <a:pPr>
              <a:spcBef>
                <a:spcPts val="400"/>
              </a:spcBef>
              <a:defRPr sz="1000">
                <a:solidFill>
                  <a:srgbClr val="A0A5AF"/>
                </a:solidFill>
                <a:latin typeface="Segoe UI"/>
              </a:defRPr>
            </a:pPr>
            <a:r>
              <a:t>Empirically validated against historical Delhi NCR monsoon inundations.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91640"/>
            <a:ext cx="2542032" cy="173736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78308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99FF"/>
                </a:solidFill>
                <a:latin typeface="Segoe UI"/>
              </a:defRPr>
            </a:pPr>
            <a:r>
              <a:t>$0.003</a:t>
            </a:r>
          </a:p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COST / NODE / HOUR</a:t>
            </a:r>
          </a:p>
          <a:p>
            <a:pPr>
              <a:spcBef>
                <a:spcPts val="400"/>
              </a:spcBef>
              <a:defRPr sz="1000">
                <a:solidFill>
                  <a:srgbClr val="A0A5AF"/>
                </a:solidFill>
                <a:latin typeface="Segoe UI"/>
              </a:defRPr>
            </a:pPr>
            <a:r>
              <a:t>Scale-to-zero serverless architecture eliminating idle server burn.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91640"/>
            <a:ext cx="2542032" cy="173736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78308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AB308"/>
                </a:solidFill>
                <a:latin typeface="Segoe UI"/>
              </a:defRPr>
            </a:pPr>
            <a:r>
              <a:t>100%</a:t>
            </a:r>
          </a:p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SERVERLESS SCALABILITY</a:t>
            </a:r>
          </a:p>
          <a:p>
            <a:pPr>
              <a:spcBef>
                <a:spcPts val="400"/>
              </a:spcBef>
              <a:defRPr sz="1000">
                <a:solidFill>
                  <a:srgbClr val="A0A5AF"/>
                </a:solidFill>
                <a:latin typeface="Segoe UI"/>
              </a:defRPr>
            </a:pPr>
            <a:r>
              <a:t>Zero dedicated EC2 instances; auto-scales to 10,000+ nodes seamlessly.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10725912" cy="242316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94760"/>
            <a:ext cx="101772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D3"/>
                </a:solidFill>
                <a:latin typeface="Arial"/>
              </a:defRPr>
            </a:pPr>
            <a:r>
              <a:t>COMPARATIVE ADVANTAGE: TOODLE vs. LEGACY FLOOD SCADA SYSTEMS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Consolas"/>
              </a:defRPr>
            </a:pPr>
            <a:r>
              <a:t>Feature Dimension                | Conventional Municipal SCADA                 | Toodle Platform</a:t>
            </a:r>
          </a:p>
          <a:p>
            <a:pPr>
              <a:spcBef>
                <a:spcPts val="200"/>
              </a:spcBef>
              <a:defRPr sz="1000">
                <a:solidFill>
                  <a:srgbClr val="00D2D3"/>
                </a:solidFill>
                <a:latin typeface="Consolas"/>
              </a:defRPr>
            </a:pPr>
            <a:r>
              <a:t>Initial Capital Cost per Node    | ₹ 4,50,000 — ₹ 8,000,000 (Trenching, AC mains) | &lt; ₹ 12,000 (Battery / Solar IoT Node)</a:t>
            </a:r>
          </a:p>
          <a:p>
            <a:pPr>
              <a:spcBef>
                <a:spcPts val="200"/>
              </a:spcBef>
              <a:defRPr sz="1000">
                <a:solidFill>
                  <a:srgbClr val="A0A5AF"/>
                </a:solidFill>
                <a:latin typeface="Consolas"/>
              </a:defRPr>
            </a:pPr>
            <a:r>
              <a:t>Lead Time to Predict Inundation  | 0 minutes (Alerts only after street is submerged) | 30 — 45 minutes proactive early warning</a:t>
            </a:r>
          </a:p>
          <a:p>
            <a:pPr>
              <a:spcBef>
                <a:spcPts val="200"/>
              </a:spcBef>
              <a:defRPr sz="1000">
                <a:solidFill>
                  <a:srgbClr val="00D2D3"/>
                </a:solidFill>
                <a:latin typeface="Consolas"/>
              </a:defRPr>
            </a:pPr>
            <a:r>
              <a:t>Drain Clogging Detection         | None (Blind to sub-surface debris)           | Acoustic Resonance + Rekognition Vision</a:t>
            </a:r>
          </a:p>
          <a:p>
            <a:pPr>
              <a:spcBef>
                <a:spcPts val="200"/>
              </a:spcBef>
              <a:defRPr sz="1000">
                <a:solidFill>
                  <a:srgbClr val="A0A5AF"/>
                </a:solidFill>
                <a:latin typeface="Consolas"/>
              </a:defRPr>
            </a:pPr>
            <a:r>
              <a:t>Post-Storm Hydrological Memory   | None (Resets to zero when rain stops)        | 24-Hour Rolling Hydrological Memory Decay</a:t>
            </a:r>
          </a:p>
          <a:p>
            <a:pPr>
              <a:spcBef>
                <a:spcPts val="200"/>
              </a:spcBef>
              <a:defRPr sz="1000">
                <a:solidFill>
                  <a:srgbClr val="00D2D3"/>
                </a:solidFill>
                <a:latin typeface="Consolas"/>
              </a:defRPr>
            </a:pPr>
            <a:r>
              <a:t>Emergency Dispatch Speed         | Manual phone / radio triage (45-90 min)      | &lt; 2.5 seconds automated AWS SNS SMS dispatch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D3"/>
                </a:solidFill>
                <a:latin typeface="Arial"/>
              </a:defRPr>
            </a:pPr>
            <a:r>
              <a:t>MARKET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Multi-Stakeholder Impact &amp; Pan-India Scale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0A5AF"/>
                </a:solidFill>
                <a:latin typeface="Segoe UI"/>
              </a:defRPr>
            </a:pPr>
            <a:r>
              <a:t>Empowering city planners, traffic authorities, emergency services, and commercial fleets.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28416" cy="4389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D3"/>
                </a:solidFill>
                <a:latin typeface="Arial"/>
              </a:defRPr>
            </a:pPr>
            <a:r>
              <a:t>CIVIC &amp; MUNICIPAL GOVERNANCE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MCD, NDMC &amp; PWD</a:t>
            </a:r>
          </a:p>
          <a:p>
            <a:pPr>
              <a:spcBef>
                <a:spcPts val="800"/>
              </a:spcBef>
              <a:defRPr sz="1150">
                <a:solidFill>
                  <a:srgbClr val="A0A5AF"/>
                </a:solidFill>
                <a:latin typeface="Segoe UI"/>
              </a:defRPr>
            </a:pPr>
            <a:r>
              <a:t>• Proactive Silt Abatement: Send de-silting machines to drains with high A_impedance days before monsoon.</a:t>
            </a:r>
          </a:p>
          <a:p>
            <a:pPr>
              <a:spcBef>
                <a:spcPts val="800"/>
              </a:spcBef>
              <a:defRPr sz="1150">
                <a:solidFill>
                  <a:srgbClr val="A0A5AF"/>
                </a:solidFill>
                <a:latin typeface="Segoe UI"/>
              </a:defRPr>
            </a:pPr>
            <a:r>
              <a:t>• Targeted Pump Deployment: Position mobile diesel de-watering pumps at critical nodes prior to cloudburst.</a:t>
            </a:r>
          </a:p>
          <a:p>
            <a:pPr>
              <a:spcBef>
                <a:spcPts val="800"/>
              </a:spcBef>
              <a:defRPr sz="1150">
                <a:solidFill>
                  <a:srgbClr val="A0A5AF"/>
                </a:solidFill>
                <a:latin typeface="Segoe UI"/>
              </a:defRPr>
            </a:pPr>
            <a:r>
              <a:t>• Real-time Municipal Accountability: Transparent audit log in DynamoDB of all dispatch events.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91640"/>
            <a:ext cx="3328416" cy="4389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B308"/>
                </a:solidFill>
                <a:latin typeface="Arial"/>
              </a:defRPr>
            </a:pPr>
            <a:r>
              <a:t>TRAFFIC &amp; EMERGENCY RESCUE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Traffic Police &amp; NDRF</a:t>
            </a:r>
          </a:p>
          <a:p>
            <a:pPr>
              <a:spcBef>
                <a:spcPts val="800"/>
              </a:spcBef>
              <a:defRPr sz="1150">
                <a:solidFill>
                  <a:srgbClr val="A0A5AF"/>
                </a:solidFill>
                <a:latin typeface="Segoe UI"/>
              </a:defRPr>
            </a:pPr>
            <a:r>
              <a:t>• Automated Underpass Barriers: Trigger electronic signboards and barrier gates when FRI &gt; 0.86.</a:t>
            </a:r>
          </a:p>
          <a:p>
            <a:pPr>
              <a:spcBef>
                <a:spcPts val="800"/>
              </a:spcBef>
              <a:defRPr sz="1150">
                <a:solidFill>
                  <a:srgbClr val="A0A5AF"/>
                </a:solidFill>
                <a:latin typeface="Segoe UI"/>
              </a:defRPr>
            </a:pPr>
            <a:r>
              <a:t>• Dynamic Route Re-routing: Feed real-time hazard vectors to Google Maps / Apple Maps / MapmyIndia.</a:t>
            </a:r>
          </a:p>
          <a:p>
            <a:pPr>
              <a:spcBef>
                <a:spcPts val="800"/>
              </a:spcBef>
              <a:defRPr sz="1150">
                <a:solidFill>
                  <a:srgbClr val="A0A5AF"/>
                </a:solidFill>
                <a:latin typeface="Segoe UI"/>
              </a:defRPr>
            </a:pPr>
            <a:r>
              <a:t>• First Responder Priority Queue: Triage rescue boats and emergency ambulances to worst-hit wards.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91640"/>
            <a:ext cx="3328416" cy="438912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  <a:latin typeface="Arial"/>
              </a:defRPr>
            </a:pPr>
            <a:r>
              <a:t>COMMERCIAL ENTERPRISE &amp; CITIZENS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B2B Logistics &amp; Insurance</a:t>
            </a:r>
          </a:p>
          <a:p>
            <a:pPr>
              <a:spcBef>
                <a:spcPts val="800"/>
              </a:spcBef>
              <a:defRPr sz="1150">
                <a:solidFill>
                  <a:srgbClr val="A0A5AF"/>
                </a:solidFill>
                <a:latin typeface="Segoe UI"/>
              </a:defRPr>
            </a:pPr>
            <a:r>
              <a:t>• Fleet Protection: Delivery fleets (Swiggy, Zomato, Amazon, Delhivery) prevent vehicle engine hydrostatic lock.</a:t>
            </a:r>
          </a:p>
          <a:p>
            <a:pPr>
              <a:spcBef>
                <a:spcPts val="800"/>
              </a:spcBef>
              <a:defRPr sz="1150">
                <a:solidFill>
                  <a:srgbClr val="A0A5AF"/>
                </a:solidFill>
                <a:latin typeface="Segoe UI"/>
              </a:defRPr>
            </a:pPr>
            <a:r>
              <a:t>• Parametric Flood Insurance: Underwriters price localized flood risk based on granular node telemetry.</a:t>
            </a:r>
          </a:p>
          <a:p>
            <a:pPr>
              <a:spcBef>
                <a:spcPts val="800"/>
              </a:spcBef>
              <a:defRPr sz="1150">
                <a:solidFill>
                  <a:srgbClr val="A0A5AF"/>
                </a:solidFill>
                <a:latin typeface="Segoe UI"/>
              </a:defRPr>
            </a:pPr>
            <a:r>
              <a:t>• Citizen Mobile Scanner: Crowdsourced field reporting with instant GPS validation.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91440" cy="384048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D3"/>
                </a:solidFill>
                <a:latin typeface="Arial"/>
              </a:defRPr>
            </a:pPr>
            <a:r>
              <a:t>THE FUTURE OF FLOOD RESILIENCE</a:t>
            </a:r>
          </a:p>
          <a:p>
            <a:pPr>
              <a:spcBef>
                <a:spcPts val="400"/>
              </a:spcBef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Cities shouldn't react to floods. They should prevent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926080"/>
            <a:ext cx="10332720" cy="292608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82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784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9FF"/>
                </a:solidFill>
                <a:latin typeface="Arial"/>
              </a:defRPr>
            </a:pPr>
            <a:r>
              <a:t>PROJECT HIGHLIGHTS &amp; KEY TAKEAWAYS</a:t>
            </a:r>
          </a:p>
          <a:p>
            <a:pPr>
              <a:spcBef>
                <a:spcPts val="400"/>
              </a:spcBef>
              <a:defRPr sz="1200">
                <a:solidFill>
                  <a:srgbClr val="A0A5AF"/>
                </a:solidFill>
                <a:latin typeface="Segoe UI"/>
              </a:defRPr>
            </a:pPr>
            <a:r>
              <a:t>• Predictive Hydraulic Modeling: Fuses 3 distinct physical vectors (Visual, Acoustic, Meteorological) into an actionable 0-1 FRI index.</a:t>
            </a:r>
          </a:p>
          <a:p>
            <a:pPr>
              <a:spcBef>
                <a:spcPts val="400"/>
              </a:spcBef>
              <a:defRPr sz="1200">
                <a:solidFill>
                  <a:srgbClr val="A0A5AF"/>
                </a:solidFill>
                <a:latin typeface="Segoe UI"/>
              </a:defRPr>
            </a:pPr>
            <a:r>
              <a:t>• Post-Storm Hydrological Memory: Eliminates premature all-clear false negatives by modeling 24h cumulative rainfall retention.</a:t>
            </a:r>
          </a:p>
          <a:p>
            <a:pPr>
              <a:spcBef>
                <a:spcPts val="400"/>
              </a:spcBef>
              <a:defRPr sz="1200">
                <a:solidFill>
                  <a:srgbClr val="A0A5AF"/>
                </a:solidFill>
                <a:latin typeface="Segoe UI"/>
              </a:defRPr>
            </a:pPr>
            <a:r>
              <a:t>• Edge &amp; Computer Vision: Custom Rekognition pipeline capable of classifying real municipal debris and blocked drain infrastructure.</a:t>
            </a:r>
          </a:p>
          <a:p>
            <a:pPr>
              <a:spcBef>
                <a:spcPts val="400"/>
              </a:spcBef>
              <a:defRPr sz="1200">
                <a:solidFill>
                  <a:srgbClr val="A0A5AF"/>
                </a:solidFill>
                <a:latin typeface="Segoe UI"/>
              </a:defRPr>
            </a:pPr>
            <a:r>
              <a:t>• Zero Capex Ingestion: 100% AWS Serverless architecture operating at $0.003/node/hour with sub-2.5 second emergency dispatch.</a:t>
            </a:r>
          </a:p>
          <a:p>
            <a:pPr>
              <a:spcBef>
                <a:spcPts val="400"/>
              </a:spcBef>
              <a:defRPr sz="1200">
                <a:solidFill>
                  <a:srgbClr val="A0A5AF"/>
                </a:solidFill>
                <a:latin typeface="Segoe UI"/>
              </a:defRPr>
            </a:pPr>
            <a:r>
              <a:t>• Full-Stack Parity: Deployed on AWS Amplify with a companion React Native Expo APK compiled for municipal field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